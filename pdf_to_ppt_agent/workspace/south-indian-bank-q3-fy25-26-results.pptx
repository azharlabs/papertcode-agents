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PBT</c:v>
                </c:pt>
              </c:strCache>
            </c:strRef>
          </c:tx>
          <c:spPr>
            <a:solidFill>
              <a:srgbClr val="2D6CD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22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Treasury</c:v>
                  </c:pt>
                  <c:pt idx="1">
                    <c:v>Corporate/Wholesale</c:v>
                  </c:pt>
                  <c:pt idx="2">
                    <c:v>Retail</c:v>
                  </c:pt>
                  <c:pt idx="3">
                    <c:v>Other Ops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8138</c:v>
                </c:pt>
                <c:pt idx="1">
                  <c:v>11518</c:v>
                </c:pt>
                <c:pt idx="2">
                  <c:v>25683</c:v>
                </c:pt>
                <c:pt idx="3">
                  <c:v>5053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122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Segment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₹ Lakhs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50" y="558701"/>
            <a:ext cx="1562100" cy="1562100"/>
          </a:xfrm>
          <a:prstGeom prst="roundRect">
            <a:avLst>
              <a:gd name="adj" fmla="val 14634"/>
            </a:avLst>
          </a:prstGeom>
          <a:solidFill>
            <a:srgbClr val="111B33"/>
          </a:solidFill>
          <a:ln w="19050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62335" y="1092101"/>
            <a:ext cx="77314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SIB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4484" y="1244501"/>
            <a:ext cx="28991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dirty="0">
                <a:solidFill>
                  <a:srgbClr val="E8F0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NEXT-GEN BANKING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60350" y="2175718"/>
            <a:ext cx="7979765" cy="967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8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Unaudited Standalone Financial Results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60350" y="3295204"/>
            <a:ext cx="7979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800" b="1" dirty="0">
                <a:solidFill>
                  <a:srgbClr val="E8F0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and Nine Months Ended 31 December 2025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0350" y="3621435"/>
            <a:ext cx="1598116" cy="653951"/>
          </a:xfrm>
          <a:prstGeom prst="roundRect">
            <a:avLst>
              <a:gd name="adj" fmla="val 194009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7576" y="3757910"/>
            <a:ext cx="12481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8F0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Indian Bank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436168" y="3621435"/>
            <a:ext cx="2055614" cy="653951"/>
          </a:xfrm>
          <a:prstGeom prst="roundRect">
            <a:avLst>
              <a:gd name="adj" fmla="val 194009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23393" y="3757910"/>
            <a:ext cx="171478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8F0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Presentation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69482" y="3616672"/>
            <a:ext cx="3814167" cy="663476"/>
          </a:xfrm>
          <a:prstGeom prst="roundRect">
            <a:avLst>
              <a:gd name="adj" fmla="val 191224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56708" y="3753148"/>
            <a:ext cx="350851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8F0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amounts in ₹ Lakhs (as per published statement)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0350" y="4457849"/>
            <a:ext cx="7823299" cy="126950"/>
          </a:xfrm>
          <a:prstGeom prst="roundRect">
            <a:avLst>
              <a:gd name="adj" fmla="val 9993935"/>
            </a:avLst>
          </a:prstGeom>
          <a:solidFill>
            <a:srgbClr val="2D6CDF"/>
          </a:solidFill>
          <a:ln/>
          <a:effectLst>
            <a:outerShdw sx="100000" sy="100000" kx="0" ky="0" algn="bl" rotWithShape="0" blurRad="228600" dist="95250" dir="5400000">
              <a:srgbClr val="2d6cdf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701" y="1184225"/>
            <a:ext cx="8026598" cy="0"/>
          </a:xfrm>
          <a:prstGeom prst="line">
            <a:avLst/>
          </a:prstGeom>
          <a:noFill/>
          <a:ln w="1905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701" y="381000"/>
            <a:ext cx="486048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Snapshot (Q3 FY 2025–26)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323880" y="704850"/>
            <a:ext cx="33266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220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ended 31 Dec 2025 • Unaudited standalone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8701" y="1371451"/>
            <a:ext cx="3924449" cy="879277"/>
          </a:xfrm>
          <a:prstGeom prst="roundRect">
            <a:avLst>
              <a:gd name="adj" fmla="val 20221"/>
            </a:avLst>
          </a:prstGeom>
          <a:solidFill>
            <a:srgbClr val="FFFFFF"/>
          </a:solidFill>
          <a:ln w="9525">
            <a:solidFill>
              <a:srgbClr val="0B1220"/>
            </a:solidFill>
          </a:ln>
          <a:effectLst>
            <a:outerShdw sx="100000" sy="100000" kx="0" ky="0" algn="bl" rotWithShape="0" blurRad="228600" dist="95250" dir="5400000">
              <a:srgbClr val="0b122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1376" y="1663452"/>
            <a:ext cx="815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1376" y="1873002"/>
            <a:ext cx="815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B122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tax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163491" y="1558677"/>
            <a:ext cx="112912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 37,432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163491" y="1892052"/>
            <a:ext cx="11291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B122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lakhs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58701" y="2403128"/>
            <a:ext cx="3924449" cy="879277"/>
          </a:xfrm>
          <a:prstGeom prst="roundRect">
            <a:avLst>
              <a:gd name="adj" fmla="val 20221"/>
            </a:avLst>
          </a:prstGeom>
          <a:solidFill>
            <a:srgbClr val="FFFFFF"/>
          </a:solidFill>
          <a:ln w="9525">
            <a:solidFill>
              <a:srgbClr val="0B1220"/>
            </a:solidFill>
          </a:ln>
          <a:effectLst>
            <a:outerShdw sx="100000" sy="100000" kx="0" ky="0" algn="bl" rotWithShape="0" blurRad="228600" dist="95250" dir="5400000">
              <a:srgbClr val="0b122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1376" y="2695129"/>
            <a:ext cx="15274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Income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1376" y="2904679"/>
            <a:ext cx="15274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B122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+ other income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25366" y="2590354"/>
            <a:ext cx="137201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 3,00,346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25366" y="2923729"/>
            <a:ext cx="13720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B122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lakhs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58701" y="3434804"/>
            <a:ext cx="3924449" cy="879277"/>
          </a:xfrm>
          <a:prstGeom prst="roundRect">
            <a:avLst>
              <a:gd name="adj" fmla="val 20221"/>
            </a:avLst>
          </a:prstGeom>
          <a:solidFill>
            <a:srgbClr val="FFFFFF"/>
          </a:solidFill>
          <a:ln w="9525">
            <a:solidFill>
              <a:srgbClr val="0B1220"/>
            </a:solidFill>
          </a:ln>
          <a:effectLst>
            <a:outerShdw sx="100000" sy="100000" kx="0" ky="0" algn="bl" rotWithShape="0" blurRad="228600" dist="95250" dir="5400000">
              <a:srgbClr val="0b122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71376" y="3726805"/>
            <a:ext cx="13799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Profit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1376" y="3936355"/>
            <a:ext cx="1379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B122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provisions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163491" y="3622030"/>
            <a:ext cx="112912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 58,433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163491" y="3955405"/>
            <a:ext cx="11291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B122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lakhs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60850" y="1371451"/>
            <a:ext cx="3924449" cy="869752"/>
          </a:xfrm>
          <a:prstGeom prst="roundRect">
            <a:avLst>
              <a:gd name="adj" fmla="val 20443"/>
            </a:avLst>
          </a:prstGeom>
          <a:solidFill>
            <a:srgbClr val="FFFFFF"/>
          </a:solidFill>
          <a:ln w="9525">
            <a:solidFill>
              <a:srgbClr val="0B1220"/>
            </a:solidFill>
          </a:ln>
          <a:effectLst>
            <a:outerShdw sx="100000" sy="100000" kx="0" ky="0" algn="bl" rotWithShape="0" blurRad="228600" dist="95250" dir="5400000">
              <a:srgbClr val="0b122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73526" y="1653927"/>
            <a:ext cx="15145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Adequacy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73526" y="1863477"/>
            <a:ext cx="15145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B122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 III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409855" y="1558677"/>
            <a:ext cx="9820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17.84%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09855" y="1882527"/>
            <a:ext cx="9820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B122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reported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60850" y="2393603"/>
            <a:ext cx="3924449" cy="1466404"/>
          </a:xfrm>
          <a:prstGeom prst="roundRect">
            <a:avLst>
              <a:gd name="adj" fmla="val 12125"/>
            </a:avLst>
          </a:prstGeom>
          <a:solidFill>
            <a:srgbClr val="FFFFFF"/>
          </a:solidFill>
          <a:ln w="9525">
            <a:solidFill>
              <a:srgbClr val="0B1220"/>
            </a:solidFill>
          </a:ln>
          <a:effectLst>
            <a:outerShdw sx="100000" sy="100000" kx="0" ky="0" algn="bl" rotWithShape="0" blurRad="228600" dist="95250" dir="5400000">
              <a:srgbClr val="0b122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73526" y="2676079"/>
            <a:ext cx="11587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Quality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73526" y="2885629"/>
            <a:ext cx="1158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B122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NPA ratios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701433" y="2580829"/>
            <a:ext cx="170461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GNPA 2.67%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701433" y="2904679"/>
            <a:ext cx="17046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B122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NNPA 0.45%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102126" y="3203079"/>
            <a:ext cx="3270498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NPA: ₹ 2,58,150 lakhs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NPA: ₹ 42,590 lakhs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60850" y="4190107"/>
            <a:ext cx="3924449" cy="787301"/>
          </a:xfrm>
          <a:prstGeom prst="roundRect">
            <a:avLst>
              <a:gd name="adj" fmla="val 19357"/>
            </a:avLst>
          </a:prstGeom>
          <a:solidFill>
            <a:srgbClr val="2D6CDF">
              <a:alpha val="8000"/>
            </a:srgbClr>
          </a:solidFill>
          <a:ln w="9525">
            <a:solidFill>
              <a:srgbClr val="2D6CD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22775" y="4326582"/>
            <a:ext cx="367261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B122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Figures are reproduced from the published statement; quarterly/nine-month numbers are not annualised.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701" y="1200001"/>
            <a:ext cx="8026598" cy="0"/>
          </a:xfrm>
          <a:prstGeom prst="line">
            <a:avLst/>
          </a:prstGeom>
          <a:noFill/>
          <a:ln w="1905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701" y="406301"/>
            <a:ext cx="4194819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Performance (₹ Lakhs)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671268" y="720626"/>
            <a:ext cx="399231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220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ended 31 Dec 2025 vs 30 Sep 2025 vs 31 Dec 2024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8701" y="1412677"/>
            <a:ext cx="3119140" cy="2273052"/>
          </a:xfrm>
          <a:prstGeom prst="roundRect">
            <a:avLst>
              <a:gd name="adj" fmla="val 7822"/>
            </a:avLst>
          </a:prstGeom>
          <a:solidFill>
            <a:srgbClr val="F6F8FC"/>
          </a:solidFill>
          <a:ln w="9525">
            <a:solidFill>
              <a:srgbClr val="0B122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1376" y="1599902"/>
            <a:ext cx="2747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notice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9976" y="1936403"/>
            <a:ext cx="2465189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and operating profit remain the key drivers of quarterly performance.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 reflects provisioning and tax impact.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are as per the published unaudited standalone statement.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906441" y="1412677"/>
            <a:ext cx="4678859" cy="3739902"/>
          </a:xfrm>
          <a:prstGeom prst="roundRect">
            <a:avLst>
              <a:gd name="adj" fmla="val 4754"/>
            </a:avLst>
          </a:prstGeom>
          <a:solidFill>
            <a:srgbClr val="FFFFFF"/>
          </a:solidFill>
          <a:ln w="9525">
            <a:solidFill>
              <a:srgbClr val="0B1220"/>
            </a:solidFill>
          </a:ln>
          <a:effectLst>
            <a:outerShdw sx="100000" sy="100000" kx="0" ky="0" algn="bl" rotWithShape="0" blurRad="228600" dist="95250" dir="5400000">
              <a:srgbClr val="0b122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42916" y="1549152"/>
            <a:ext cx="44940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0B122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line items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42916" y="1841153"/>
          <a:ext cx="4405908" cy="317495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1828800"/>
                <a:gridCol w="1828800"/>
              </a:tblGrid>
              <a:tr h="39686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Particulars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 FY25-26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(31 Dec 2025)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 FY25-26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(30 Sep 2025)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 FY24-25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(31 Dec 2024)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39686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income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3,00,346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2,92,278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2,77,996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86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Interest expended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1,63,685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1,59,827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1,50,148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86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profit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58,433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53,556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52,884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86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Provisions &amp; contingencies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8,041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86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Profit before tax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50,392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47,229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46,280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86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 expense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12,092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12,093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86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profit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37,432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35,137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34,187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701" y="866626"/>
            <a:ext cx="8026598" cy="0"/>
          </a:xfrm>
          <a:prstGeom prst="line">
            <a:avLst/>
          </a:prstGeom>
          <a:noFill/>
          <a:ln w="1905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701" y="406301"/>
            <a:ext cx="485577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Results (Profit Before Tax)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29623" y="558701"/>
            <a:ext cx="26067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220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ended 31 Dec 2025 • ₹ Lakhs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8701" y="1079302"/>
            <a:ext cx="3275112" cy="1777752"/>
          </a:xfrm>
          <a:prstGeom prst="roundRect">
            <a:avLst>
              <a:gd name="adj" fmla="val 10001"/>
            </a:avLst>
          </a:prstGeom>
          <a:solidFill>
            <a:srgbClr val="F6F8FC"/>
          </a:solidFill>
          <a:ln w="9525">
            <a:solidFill>
              <a:srgbClr val="0B122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1376" y="1266527"/>
            <a:ext cx="29067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Segments (as per RBI guidelines)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9976" y="1603028"/>
            <a:ext cx="2621161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/ Wholesale Banking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Banking (incl. Digital Banking)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Banking Operations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58701" y="3009454"/>
            <a:ext cx="3275112" cy="1815852"/>
          </a:xfrm>
          <a:prstGeom prst="roundRect">
            <a:avLst>
              <a:gd name="adj" fmla="val 9792"/>
            </a:avLst>
          </a:prstGeom>
          <a:solidFill>
            <a:srgbClr val="F6F8FC"/>
          </a:solidFill>
          <a:ln w="9525">
            <a:solidFill>
              <a:srgbClr val="0B122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1376" y="3196679"/>
            <a:ext cx="29067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PBT (selected)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99976" y="3533180"/>
            <a:ext cx="2621161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Treasury: ₹ 8,138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Corporate/Wholesale: ₹ 11,518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Banking: ₹ 25,683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Banking Ops: ₹ 5,053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62412" y="1079302"/>
            <a:ext cx="4522887" cy="3739902"/>
          </a:xfrm>
          <a:prstGeom prst="roundRect">
            <a:avLst>
              <a:gd name="adj" fmla="val 4754"/>
            </a:avLst>
          </a:prstGeom>
          <a:solidFill>
            <a:srgbClr val="FFFFFF"/>
          </a:solidFill>
          <a:ln w="9525">
            <a:solidFill>
              <a:srgbClr val="0B1220"/>
            </a:solidFill>
          </a:ln>
          <a:effectLst>
            <a:outerShdw sx="100000" sy="100000" kx="0" ky="0" algn="bl" rotWithShape="0" blurRad="228600" dist="95250" dir="5400000">
              <a:srgbClr val="0b122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98888" y="1215777"/>
            <a:ext cx="43349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0B122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before tax by segment</a:t>
            </a:r>
            <a:endParaRPr lang="en-US" sz="12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198888" y="1507778"/>
          <a:ext cx="4249936" cy="31749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701" y="1200001"/>
            <a:ext cx="8026598" cy="0"/>
          </a:xfrm>
          <a:prstGeom prst="line">
            <a:avLst/>
          </a:prstGeom>
          <a:noFill/>
          <a:ln w="1905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701" y="406301"/>
            <a:ext cx="5075438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 of Assets &amp; Liabilities (₹ Lakhs)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534620" y="720626"/>
            <a:ext cx="31116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220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at 31 Dec 2025 vs 31 Mar 2025 vs 31 Dec 2024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8701" y="1412677"/>
            <a:ext cx="3119140" cy="2082552"/>
          </a:xfrm>
          <a:prstGeom prst="roundRect">
            <a:avLst>
              <a:gd name="adj" fmla="val 8538"/>
            </a:avLst>
          </a:prstGeom>
          <a:solidFill>
            <a:srgbClr val="F6F8FC"/>
          </a:solidFill>
          <a:ln w="9525">
            <a:solidFill>
              <a:srgbClr val="0B122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1376" y="1599902"/>
            <a:ext cx="2747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sheet focus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9976" y="1936403"/>
            <a:ext cx="2465189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Deposits and advances remain the core balance sheet drivers.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Investments and liquidity buffers support stability.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are as per published standalone statement.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906441" y="1412677"/>
            <a:ext cx="4678859" cy="3739902"/>
          </a:xfrm>
          <a:prstGeom prst="roundRect">
            <a:avLst>
              <a:gd name="adj" fmla="val 4754"/>
            </a:avLst>
          </a:prstGeom>
          <a:solidFill>
            <a:srgbClr val="FFFFFF"/>
          </a:solidFill>
          <a:ln w="9525">
            <a:solidFill>
              <a:srgbClr val="0B1220"/>
            </a:solidFill>
          </a:ln>
          <a:effectLst>
            <a:outerShdw sx="100000" sy="100000" kx="0" ky="0" algn="bl" rotWithShape="0" blurRad="228600" dist="95250" dir="5400000">
              <a:srgbClr val="0b122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42916" y="1549152"/>
            <a:ext cx="44940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0B122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balance sheet line items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42916" y="1841153"/>
          <a:ext cx="4405908" cy="3174950"/>
        </p:xfrm>
        <a:graphic>
          <a:graphicData uri="http://schemas.openxmlformats.org/drawingml/2006/table">
            <a:tbl>
              <a:tblPr/>
              <a:tblGrid>
                <a:gridCol w="2743200"/>
                <a:gridCol w="1920240"/>
                <a:gridCol w="1920240"/>
                <a:gridCol w="1920240"/>
              </a:tblGrid>
              <a:tr h="5291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 item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 Dec 2025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 Mar 2025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 Dec 2024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291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Deposits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1,18,21,090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1,07,52,560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1,05,38,663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91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94,71,262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85,68,207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84,39,644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91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10,74,921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9,83,829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9,47,384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91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Reserves &amp; surplus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10,74,921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9,83,829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9,47,384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91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assets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1,38,49,703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1,24,65,512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1,20,85,998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50" y="507950"/>
            <a:ext cx="797976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&amp; Disclosures (selected)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0350" y="987326"/>
            <a:ext cx="797976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Bef>
                <a:spcPts val="1000"/>
              </a:spcBef>
              <a:buNone/>
            </a:pPr>
            <a:r>
              <a:rPr lang="en-US" sz="1250" dirty="0">
                <a:solidFill>
                  <a:srgbClr val="E8F0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from the published unaudited standalone financial results.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0350" y="1430238"/>
            <a:ext cx="7823299" cy="2152352"/>
          </a:xfrm>
          <a:prstGeom prst="roundRect">
            <a:avLst>
              <a:gd name="adj" fmla="val 944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27075" y="1769864"/>
            <a:ext cx="7118449" cy="1511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for the quarter and nine months ended 31 Dec 2025 were reviewed by the Audit Committee and approved by the Board on 15 Jan 2026; limited review report is unmodified.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income includes profit on sale of investments (net), FX &amp; derivative earnings, commissions from non-fund based activities, PSL certificate income, card &amp; bancassurance income, recoveries, etc.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operating expenses include insurance, rent, repairs, depreciation, communication, outsourced manpower, PSLC premium, CSR, ATM outsourcing, card expenses, etc.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60350" y="4523184"/>
            <a:ext cx="7979765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E8F0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South Indian Bank published financial results (unaudited standalone). This deck is a visual summary for stakeholders.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South Indian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SIB Q3 FY 2025-26 Financial Results</dc:title>
  <dc:subject>Unaudited Standalone Financial Results</dc:subject>
  <dc:creator>South Indian Bank</dc:creator>
  <cp:lastModifiedBy>South Indian Bank</cp:lastModifiedBy>
  <cp:revision>1</cp:revision>
  <dcterms:created xsi:type="dcterms:W3CDTF">2026-02-09T03:25:01Z</dcterms:created>
  <dcterms:modified xsi:type="dcterms:W3CDTF">2026-02-09T03:25:01Z</dcterms:modified>
</cp:coreProperties>
</file>